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Afacad Flux Medium"/>
      <p:regular r:id="rId22"/>
      <p:bold r:id="rId23"/>
    </p:embeddedFont>
    <p:embeddedFont>
      <p:font typeface="Afacad Flux"/>
      <p:regular r:id="rId24"/>
      <p:bold r:id="rId25"/>
    </p:embeddedFont>
    <p:embeddedFont>
      <p:font typeface="Comfortaa"/>
      <p:regular r:id="rId26"/>
      <p:bold r:id="rId27"/>
    </p:embeddedFont>
    <p:embeddedFont>
      <p:font typeface="Afacad Flux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26875D-97F4-409B-ADDA-80CEE989ABF2}">
  <a:tblStyle styleId="{9B26875D-97F4-409B-ADDA-80CEE989AB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facadFluxMedium-regular.fntdata"/><Relationship Id="rId21" Type="http://schemas.openxmlformats.org/officeDocument/2006/relationships/slide" Target="slides/slide15.xml"/><Relationship Id="rId24" Type="http://schemas.openxmlformats.org/officeDocument/2006/relationships/font" Target="fonts/AfacadFlux-regular.fntdata"/><Relationship Id="rId23" Type="http://schemas.openxmlformats.org/officeDocument/2006/relationships/font" Target="fonts/AfacadFlu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mfortaa-regular.fntdata"/><Relationship Id="rId25" Type="http://schemas.openxmlformats.org/officeDocument/2006/relationships/font" Target="fonts/AfacadFlux-bold.fntdata"/><Relationship Id="rId28" Type="http://schemas.openxmlformats.org/officeDocument/2006/relationships/font" Target="fonts/AfacadFluxSemiBold-regular.fntdata"/><Relationship Id="rId27" Type="http://schemas.openxmlformats.org/officeDocument/2006/relationships/font" Target="fonts/Comforta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facadFlux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0" Type="http://schemas.openxmlformats.org/officeDocument/2006/relationships/image" Target="../media/image20.png"/><Relationship Id="rId9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6125" y="3994965"/>
            <a:ext cx="2066925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217075" y="1967950"/>
            <a:ext cx="604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EmoSense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00487" y="2996654"/>
            <a:ext cx="4391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5568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AI Based Emotion Recognition from Text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40999" y="5162725"/>
            <a:ext cx="2291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80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Presented</a:t>
            </a:r>
            <a:r>
              <a:rPr lang="en-US" sz="1800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By:</a:t>
            </a:r>
            <a:endParaRPr sz="1800">
              <a:solidFill>
                <a:srgbClr val="4A5568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b="1" i="0" lang="en-US" sz="180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Bakshish Kaur (22)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85726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866007"/>
            <a:ext cx="5524500" cy="39164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075432"/>
            <a:ext cx="56007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381000" y="1075432"/>
            <a:ext cx="76200" cy="504825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285726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2361307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Standard sentiment analysis classifies text as merely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Positive, Negative, or Neutral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. This fails to capture the complexity of human interaction.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" y="339372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Emotional nuances like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Grief vs. Sadness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or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Anger vs. Annoyance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are lost.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4075658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Businesses cannot react appropriately to specific customer feelings.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" y="4757588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Text-based AI often lacks the "EQ" needed for empathetic response.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341754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0994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78140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393602"/>
            <a:ext cx="3683049" cy="2861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549" y="2393602"/>
            <a:ext cx="3683049" cy="2861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93602"/>
            <a:ext cx="3683049" cy="28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66750" y="3374677"/>
            <a:ext cx="32671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Advanced EQ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3993802"/>
            <a:ext cx="3111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Moving beyond basic polarity to identify 28 unique emotional states using Deep Learning.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40299" y="3374677"/>
            <a:ext cx="32671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GoEmotions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40299" y="3993802"/>
            <a:ext cx="3111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Leveraging Google's massive dataset of 58k Reddit comments labeled for granular emotions.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13849" y="3374677"/>
            <a:ext cx="32671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Efficiency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13849" y="3993802"/>
            <a:ext cx="3111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Utilizing DistilBERT for high-performance classification with a smaller, faster footprint.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27269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0299" y="272697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2697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Project Vision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81162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81162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681162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572250" y="1966912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Core Frameworks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252888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Transformers: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For BERT model access.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296510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PyTorch: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The backend engine for training.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340131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Pandas/NumPy: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Essential data manipulation.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72250" y="3837533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Scikit-learn: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For robust metrics evaluation.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25527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298891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34251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386134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Technical Ecosystem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81162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381000" y="1672679"/>
            <a:ext cx="58007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Dataset Distribution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81000" y="2291804"/>
            <a:ext cx="5524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simplified version of the GoEmotions dataset provides a high-quality slice of human sentiment:</a:t>
            </a:r>
            <a:endParaRPr/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381000" y="2973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{9B26875D-97F4-409B-ADDA-80CEE989ABF2}</a:tableStyleId>
              </a:tblPr>
              <a:tblGrid>
                <a:gridCol w="2849600"/>
                <a:gridCol w="267487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Split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Training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43,410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Validation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5,426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Test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5,427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7"/>
          <p:cNvSpPr txBox="1"/>
          <p:nvPr/>
        </p:nvSpPr>
        <p:spPr>
          <a:xfrm>
            <a:off x="381000" y="5640734"/>
            <a:ext cx="5524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*Models trained on 28 total emotion labels including 'Neutral'.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81162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381000" y="4145309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81000" y="3650009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3230612" y="4145309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230612" y="3650009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895975" y="3650009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81000" y="4745384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81000" y="4250084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230612" y="4745384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230612" y="4250084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95975" y="4250084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81000" y="5345459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81000" y="4850159"/>
            <a:ext cx="2849612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230612" y="5345459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3230612" y="4850159"/>
            <a:ext cx="2674887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895975" y="4850159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GoEmotions: The Foundation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171575"/>
            <a:ext cx="11430000" cy="53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381000" y="2523232"/>
            <a:ext cx="11811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Top Emotion Prevalence (Train Set)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81000" y="4790182"/>
            <a:ext cx="11430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Analysis reveals a "Long Tail" distribution where common emotions are frequent, while others like 'Grief' and 'Pride' are sparse, presenting a training challenge.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Exploratory Data Analysis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451794"/>
            <a:ext cx="5524500" cy="274498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6286500" y="2932807"/>
            <a:ext cx="55245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raw text is transformed into a fixed-size tensor representation. We convert nested emotion labels into a multi-label vector format where 1.0 represents the presence of an emotion and 0.0 its absence.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" y="2737544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Tokenization Strategy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" y="3299519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Model: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DistilBertTokenizerFast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" y="3688109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Truncation: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Enabled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6750" y="4076700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Max Length: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64 Tokens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66750" y="4465290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Labels: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Multi-hot encoding (float32)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32333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7119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1005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48910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Data Preprocessing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286500" y="2164109"/>
            <a:ext cx="58007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DistilBertForSequenceClassification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286500" y="2783234"/>
            <a:ext cx="5524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Why DistilBERT?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286500" y="4802385"/>
            <a:ext cx="5524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model uses a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Multi-label Classification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problem type, outputting probabilities for all 28 classes simultaneously.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600825" y="322802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67500" y="3228975"/>
            <a:ext cx="5143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Performance: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Retains 97% of BERT's performance.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00825" y="361661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667500" y="3617565"/>
            <a:ext cx="51435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Speed: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60% faster inference and training.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00825" y="400520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667500" y="4006155"/>
            <a:ext cx="51435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Parameters: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~67 Million trainable parameters fine-tuned for Emo Sense.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The "Brain": DistilBERT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126" y="2019247"/>
            <a:ext cx="5800726" cy="3489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432744"/>
            <a:ext cx="5619750" cy="2783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32744"/>
            <a:ext cx="5619750" cy="27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85800" y="2737544"/>
            <a:ext cx="52606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Hyperparameters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496050" y="2737544"/>
            <a:ext cx="52606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Loss &amp; Metrics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00125" y="329856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066800" y="3299519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Learning Rate: 2e-5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00125" y="368715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66800" y="3688109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Batch Size: 16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00125" y="407574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66800" y="4076700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Epochs: 3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000125" y="446433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066800" y="4465290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Weight Decay: 0.01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810375" y="329856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877050" y="3299519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Loss: Binary Cross Entropy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810375" y="368715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877050" y="3688109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Optimization: AdamW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810375" y="407574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877050" y="4076700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Metric: Macro F1-Score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810375" y="446433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877050" y="4465290"/>
            <a:ext cx="4629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Threshold: 0.3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Training Strategy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43150"/>
            <a:ext cx="5524500" cy="296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695426"/>
            <a:ext cx="55245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6572250" y="2628900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Observations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572250" y="324802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Training loss decreased from ~0.139 to ~0.100 across 3 epochs. Validation loss followed closely, indicating a healthy fit without significant variance issues.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572250" y="433759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Macro F1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reached a peak of 0.2490 as the model learned to distinguish minority classes.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Learning Trajectory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381000" y="1720155"/>
            <a:ext cx="11811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Validation Metrics Summary</a:t>
            </a:r>
            <a:endParaRPr/>
          </a:p>
        </p:txBody>
      </p:sp>
      <p:graphicFrame>
        <p:nvGraphicFramePr>
          <p:cNvPr id="262" name="Google Shape;262;p23"/>
          <p:cNvGraphicFramePr/>
          <p:nvPr/>
        </p:nvGraphicFramePr>
        <p:xfrm>
          <a:off x="381000" y="2272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{9B26875D-97F4-409B-ADDA-80CEE989ABF2}</a:tableStyleId>
              </a:tblPr>
              <a:tblGrid>
                <a:gridCol w="7799775"/>
                <a:gridCol w="3630225"/>
              </a:tblGrid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Evaluation Loss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0.1045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Macro F1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0.2490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Samples Avg F1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0.4900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Precision (Weighted)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facad Flux"/>
                          <a:ea typeface="Afacad Flux"/>
                          <a:cs typeface="Afacad Flux"/>
                          <a:sym typeface="Afacad Flux"/>
                        </a:rPr>
                        <a:t>0.5100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23"/>
          <p:cNvSpPr txBox="1"/>
          <p:nvPr/>
        </p:nvSpPr>
        <p:spPr>
          <a:xfrm>
            <a:off x="381000" y="5539680"/>
            <a:ext cx="1143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model demonstrates high confidence in common emotions while maintaining predictive power across the multi-label spectrum.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381000" y="3444180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81000" y="2948880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8180784" y="3444180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8180784" y="2948880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11801475" y="2948880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81000" y="4044255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81000" y="3548955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8180784" y="4044255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8180784" y="3548955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11801475" y="3548955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81000" y="4644330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381000" y="4149030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8180784" y="4644330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8180784" y="4149030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11801475" y="4149030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81000" y="5244405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81000" y="4749105"/>
            <a:ext cx="7799784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8180784" y="5244405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8180784" y="4749105"/>
            <a:ext cx="3630215" cy="95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11801475" y="4749105"/>
            <a:ext cx="9525" cy="504825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Model Performance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143125"/>
            <a:ext cx="5524500" cy="2783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43125"/>
            <a:ext cx="5524500" cy="278308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381000" y="5116710"/>
            <a:ext cx="1143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Success is highly correlated with label frequency and linguistic distinctness (e.g., Gratitude uses specific keywords like 'thank').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666750" y="242887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High Performers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6572250" y="242887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Low Performers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981075" y="300894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047750" y="300990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Gratitude: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0.91 F1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81075" y="339753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047750" y="339849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Remorse: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0.72 F1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981075" y="378612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047750" y="378708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Amusement: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0.77 F1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981075" y="4174718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047750" y="417567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Admiration: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0.70 F1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886575" y="300894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6953250" y="300990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Grief: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0.00 F1 (Sparse Data)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886575" y="339753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953250" y="339849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Confusion: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0.00 F1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886575" y="378612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953250" y="378708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Annoyance: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0.11 F1 (Ambiguous)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886575" y="4174718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6953250" y="417567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Realization: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 0.00 F1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Granular Performance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381000" y="3252787"/>
            <a:ext cx="552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BC84EE"/>
                </a:solidFill>
                <a:latin typeface="Afacad Flux"/>
                <a:ea typeface="Afacad Flux"/>
                <a:cs typeface="Afacad Flux"/>
                <a:sym typeface="Afacad Flux"/>
              </a:rPr>
              <a:t>92%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286500" y="2880419"/>
            <a:ext cx="58007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A5568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Precision in Appreciation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286500" y="3499544"/>
            <a:ext cx="55245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model achieves an exceptional 92% precision for "Gratitude." This highlights the system's ability to be deployed in automated customer appreciation workflows or social monitoring with high reliability.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Key Strength: Gratitude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745134"/>
            <a:ext cx="5619750" cy="1388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745134"/>
            <a:ext cx="5619750" cy="138871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6"/>
          <p:cNvSpPr txBox="1"/>
          <p:nvPr/>
        </p:nvSpPr>
        <p:spPr>
          <a:xfrm>
            <a:off x="381000" y="4514850"/>
            <a:ext cx="1143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The model effectively translates complex semantics into structured confidence scores.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676275" y="3249959"/>
            <a:ext cx="5029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"I just got promoted! This is the best day of my life!"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676275" y="3638550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8BB78"/>
                </a:solidFill>
                <a:latin typeface="Afacad Flux"/>
                <a:ea typeface="Afacad Flux"/>
                <a:cs typeface="Afacad Flux"/>
                <a:sym typeface="Afacad Flux"/>
              </a:rPr>
              <a:t>PREDICTION: Admiration (77.37%)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6486525" y="3249959"/>
            <a:ext cx="5029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A5568"/>
                </a:solidFill>
                <a:latin typeface="Afacad Flux"/>
                <a:ea typeface="Afacad Flux"/>
                <a:cs typeface="Afacad Flux"/>
                <a:sym typeface="Afacad Flux"/>
              </a:rPr>
              <a:t>"I feel a bit nervous about the presentation tomorrow."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486525" y="3638550"/>
            <a:ext cx="5029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C84EE"/>
                </a:solidFill>
                <a:latin typeface="Afacad Flux"/>
                <a:ea typeface="Afacad Flux"/>
                <a:cs typeface="Afacad Flux"/>
                <a:sym typeface="Afacad Flux"/>
              </a:rPr>
              <a:t>PREDICTION: Nervousness / Concern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571500" y="381000"/>
            <a:ext cx="11620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Inference in Action</a:t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381000" y="381000"/>
            <a:ext cx="76200" cy="504825"/>
          </a:xfrm>
          <a:prstGeom prst="rect">
            <a:avLst/>
          </a:prstGeom>
          <a:solidFill>
            <a:srgbClr val="BC84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C84EE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7"/>
          <p:cNvSpPr txBox="1"/>
          <p:nvPr/>
        </p:nvSpPr>
        <p:spPr>
          <a:xfrm>
            <a:off x="190500" y="1587847"/>
            <a:ext cx="11811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Questions?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381000" y="2930872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Thank you for your attention!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381000" y="4443412"/>
            <a:ext cx="11430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Presented by: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Bakshish Kaur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381000" y="4934842"/>
            <a:ext cx="11430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AI-Based Emotion Recognition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